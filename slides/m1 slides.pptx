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commonsensemedia.org/research/constant-companion-a-week-in-the-life-of-a-young-persons-smartphone-use" TargetMode="External"/><Relationship Id="rId2" Type="http://schemas.openxmlformats.org/officeDocument/2006/relationships/hyperlink" Target="https://www.universityofcalifornia.edu/news/cant-pay-attention-youre-not-alone" TargetMode="External"/><Relationship Id="rId3" Type="http://schemas.openxmlformats.org/officeDocument/2006/relationships/hyperlink" Target="https://doi.org/10.1145/1357054.1357072" TargetMode="External"/><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universityofcalifornia.edu/news/cant-pay-attention-youre-not-alone" TargetMode="External"/><Relationship Id="rId2" Type="http://schemas.openxmlformats.org/officeDocument/2006/relationships/hyperlink" Target="https://doi.org/10.1145/1054972.1055017" TargetMode="External"/><Relationship Id="rId3" Type="http://schemas.openxmlformats.org/officeDocument/2006/relationships/hyperlink" Target="https://www.microsoft.com/en-us/worklab/work-trend-index/breaking-down-infinite-workday"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10911535" cy="914400"/>
          </a:xfrm>
          <a:prstGeom prst="rect">
            <a:avLst/>
          </a:prstGeom>
          <a:noFill/>
          <a:ln/>
        </p:spPr>
        <p:txBody>
          <a:bodyPr wrap="square" lIns="0" tIns="0" rIns="0" bIns="0" rtlCol="0" anchor="ctr"/>
          <a:lstStyle/>
          <a:p>
            <a:pPr indent="0" marL="0">
              <a:buNone/>
            </a:pPr>
            <a:r>
              <a:rPr lang="en-US" sz="4000" b="1" dirty="0">
                <a:solidFill>
                  <a:srgbClr val="111111"/>
                </a:solidFill>
                <a:latin typeface="Calibri" pitchFamily="34" charset="0"/>
                <a:ea typeface="Calibri" pitchFamily="34" charset="-122"/>
                <a:cs typeface="Calibri" pitchFamily="34" charset="-120"/>
              </a:rPr>
              <a:t>Two problems I'd like to research</a:t>
            </a:r>
            <a:endParaRPr lang="en-US" sz="4000" dirty="0"/>
          </a:p>
        </p:txBody>
      </p:sp>
      <p:sp>
        <p:nvSpPr>
          <p:cNvPr id="3" name="Text 1"/>
          <p:cNvSpPr txBox="1"/>
          <p:nvPr/>
        </p:nvSpPr>
        <p:spPr>
          <a:xfrm>
            <a:off x="640080" y="3108960"/>
            <a:ext cx="10911535" cy="1097280"/>
          </a:xfrm>
          <a:prstGeom prst="rect">
            <a:avLst/>
          </a:prstGeom>
          <a:noFill/>
          <a:ln/>
        </p:spPr>
        <p:txBody>
          <a:bodyPr wrap="square" lIns="0" tIns="0" rIns="0" bIns="0" rtlCol="0" anchor="ctr"/>
          <a:lstStyle/>
          <a:p>
            <a:pPr indent="0" marL="0">
              <a:spcAft>
                <a:spcPts val="600"/>
              </a:spcAft>
              <a:buNone/>
            </a:pPr>
            <a:r>
              <a:rPr lang="en-US" sz="2200" dirty="0">
                <a:solidFill>
                  <a:srgbClr val="111111"/>
                </a:solidFill>
                <a:latin typeface="Calibri" pitchFamily="34" charset="0"/>
                <a:ea typeface="Calibri" pitchFamily="34" charset="-122"/>
                <a:cs typeface="Calibri" pitchFamily="34" charset="-120"/>
              </a:rPr>
              <a:t>A.  The important notifications get lost among everything else</a:t>
            </a:r>
            <a:endParaRPr lang="en-US" sz="2200" dirty="0"/>
          </a:p>
          <a:p>
            <a:pPr indent="0" marL="0">
              <a:spcAft>
                <a:spcPts val="600"/>
              </a:spcAft>
              <a:buNone/>
            </a:pPr>
            <a:r>
              <a:rPr lang="en-US" sz="2200" dirty="0">
                <a:solidFill>
                  <a:srgbClr val="111111"/>
                </a:solidFill>
                <a:latin typeface="Calibri" pitchFamily="34" charset="0"/>
                <a:ea typeface="Calibri" pitchFamily="34" charset="-122"/>
                <a:cs typeface="Calibri" pitchFamily="34" charset="-120"/>
              </a:rPr>
              <a:t>B.  Losing your place after switching between apps</a:t>
            </a:r>
            <a:endParaRPr lang="en-US" sz="2200" dirty="0"/>
          </a:p>
        </p:txBody>
      </p:sp>
      <p:sp>
        <p:nvSpPr>
          <p:cNvPr id="4" name="Text 2"/>
          <p:cNvSpPr txBox="1"/>
          <p:nvPr/>
        </p:nvSpPr>
        <p:spPr>
          <a:xfrm>
            <a:off x="640080" y="5852160"/>
            <a:ext cx="10911535" cy="36576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Nathan Lu · MSE 302 individual project · Milestone 1 peer critique · Sep 23,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502920"/>
            <a:ext cx="10911535" cy="731520"/>
          </a:xfrm>
          <a:prstGeom prst="rect">
            <a:avLst/>
          </a:prstGeom>
          <a:noFill/>
          <a:ln/>
        </p:spPr>
        <p:txBody>
          <a:bodyPr wrap="square" lIns="0" tIns="0" rIns="0" bIns="0" rtlCol="0" anchor="ctr"/>
          <a:lstStyle/>
          <a:p>
            <a:pPr indent="0" marL="0">
              <a:buNone/>
            </a:pPr>
            <a:r>
              <a:rPr lang="en-US" sz="2800" b="1" dirty="0">
                <a:solidFill>
                  <a:srgbClr val="111111"/>
                </a:solidFill>
                <a:latin typeface="Calibri" pitchFamily="34" charset="0"/>
                <a:ea typeface="Calibri" pitchFamily="34" charset="-122"/>
                <a:cs typeface="Calibri" pitchFamily="34" charset="-120"/>
              </a:rPr>
              <a:t>A.  The important notifications get lost among everything else</a:t>
            </a:r>
            <a:endParaRPr lang="en-US" sz="2800" dirty="0"/>
          </a:p>
        </p:txBody>
      </p:sp>
      <p:sp>
        <p:nvSpPr>
          <p:cNvPr id="3" name="Text 1"/>
          <p:cNvSpPr txBox="1"/>
          <p:nvPr/>
        </p:nvSpPr>
        <p:spPr>
          <a:xfrm>
            <a:off x="640080" y="1234440"/>
            <a:ext cx="10911535" cy="365760"/>
          </a:xfrm>
          <a:prstGeom prst="rect">
            <a:avLst/>
          </a:prstGeom>
          <a:noFill/>
          <a:ln/>
        </p:spPr>
        <p:txBody>
          <a:bodyPr wrap="square" lIns="0" tIns="0" rIns="0" bIns="0" rtlCol="0" anchor="ctr"/>
          <a:lstStyle/>
          <a:p>
            <a:pPr indent="0" marL="0">
              <a:buNone/>
            </a:pPr>
            <a:r>
              <a:rPr lang="en-US" sz="1500" dirty="0">
                <a:solidFill>
                  <a:srgbClr val="6B6B6B"/>
                </a:solidFill>
                <a:latin typeface="Calibri" pitchFamily="34" charset="0"/>
                <a:ea typeface="Calibri" pitchFamily="34" charset="-122"/>
                <a:cs typeface="Calibri" pitchFamily="34" charset="-120"/>
              </a:rPr>
              <a:t>Pretty much anyone with a phone and a laptop, and it's worse if you message a lot or own more than one device.</a:t>
            </a:r>
            <a:endParaRPr lang="en-US" sz="1500" dirty="0"/>
          </a:p>
        </p:txBody>
      </p:sp>
      <p:sp>
        <p:nvSpPr>
          <p:cNvPr id="4" name="Text 2"/>
          <p:cNvSpPr txBox="1"/>
          <p:nvPr/>
        </p:nvSpPr>
        <p:spPr>
          <a:xfrm>
            <a:off x="640080" y="1920240"/>
            <a:ext cx="6949440"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What goes wrong</a:t>
            </a:r>
            <a:endParaRPr lang="en-US" sz="1100" dirty="0"/>
          </a:p>
        </p:txBody>
      </p:sp>
      <p:sp>
        <p:nvSpPr>
          <p:cNvPr id="5" name="Text 3"/>
          <p:cNvSpPr txBox="1"/>
          <p:nvPr/>
        </p:nvSpPr>
        <p:spPr>
          <a:xfrm>
            <a:off x="640080" y="2240280"/>
            <a:ext cx="6949440" cy="1737360"/>
          </a:xfrm>
          <a:prstGeom prst="rect">
            <a:avLst/>
          </a:prstGeom>
          <a:noFill/>
          <a:ln/>
        </p:spPr>
        <p:txBody>
          <a:bodyPr wrap="square" lIns="0" tIns="0" rIns="0" bIns="0" rtlCol="0" anchor="t"/>
          <a:lstStyle/>
          <a:p>
            <a:pPr indent="0" marL="0">
              <a:spcAft>
                <a:spcPts val="600"/>
              </a:spcAft>
              <a:buNone/>
            </a:pPr>
            <a:r>
              <a:rPr lang="en-US" sz="1500" dirty="0">
                <a:solidFill>
                  <a:srgbClr val="111111"/>
                </a:solidFill>
                <a:latin typeface="Calibri" pitchFamily="34" charset="0"/>
                <a:ea typeface="Calibri" pitchFamily="34" charset="-122"/>
                <a:cs typeface="Calibri" pitchFamily="34" charset="-120"/>
              </a:rPr>
              <a:t>Every app gets to decide how urgent it is, so a message from your mom shows up the same way as a 20% off sale. You either check everything constantly, or you mute stuff and miss the things that actually mattered. Apple and Google have started ranking notifications on-device, but so far only on the newest phones, and there isn't really anything on desktop.</a:t>
            </a:r>
            <a:endParaRPr lang="en-US" sz="1500" dirty="0"/>
          </a:p>
        </p:txBody>
      </p:sp>
      <p:sp>
        <p:nvSpPr>
          <p:cNvPr id="6" name="Text 4"/>
          <p:cNvSpPr txBox="1"/>
          <p:nvPr/>
        </p:nvSpPr>
        <p:spPr>
          <a:xfrm>
            <a:off x="640080" y="4114800"/>
            <a:ext cx="6949440"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How it plays out</a:t>
            </a:r>
            <a:endParaRPr lang="en-US" sz="1100" dirty="0"/>
          </a:p>
        </p:txBody>
      </p:sp>
      <p:sp>
        <p:nvSpPr>
          <p:cNvPr id="7" name="Text 5"/>
          <p:cNvSpPr txBox="1"/>
          <p:nvPr/>
        </p:nvSpPr>
        <p:spPr>
          <a:xfrm>
            <a:off x="640080" y="4434840"/>
            <a:ext cx="6949440" cy="1645920"/>
          </a:xfrm>
          <a:prstGeom prst="rect">
            <a:avLst/>
          </a:prstGeom>
          <a:noFill/>
          <a:ln/>
        </p:spPr>
        <p:txBody>
          <a:bodyPr wrap="square" lIns="0" tIns="0" rIns="0" bIns="0" rtlCol="0" anchor="t"/>
          <a:lstStyle/>
          <a:p>
            <a:pPr indent="0" marL="0">
              <a:spcAft>
                <a:spcPts val="600"/>
              </a:spcAft>
              <a:buNone/>
            </a:pPr>
            <a:r>
              <a:rPr lang="en-US" sz="1500" b="1" dirty="0">
                <a:solidFill>
                  <a:srgbClr val="9B2D20"/>
                </a:solidFill>
                <a:latin typeface="Calibri" pitchFamily="34" charset="0"/>
                <a:ea typeface="Calibri" pitchFamily="34" charset="-122"/>
                <a:cs typeface="Calibri" pitchFamily="34" charset="-120"/>
              </a:rPr>
              <a:t>App decides how urgent it is</a:t>
            </a:r>
            <a:pPr indent="0" marL="0">
              <a:spcAft>
                <a:spcPts val="600"/>
              </a:spcAft>
              <a:buNone/>
            </a:pPr>
            <a:r>
              <a:rPr lang="en-US" sz="1500" dirty="0">
                <a:solidFill>
                  <a:srgbClr val="111111"/>
                </a:solidFill>
                <a:latin typeface="Calibri" pitchFamily="34" charset="0"/>
                <a:ea typeface="Calibri" pitchFamily="34" charset="-122"/>
                <a:cs typeface="Calibri" pitchFamily="34" charset="-120"/>
              </a:rPr>
              <a:t>  →  OS delivers it to every device  →  you glance and read the preview  →  now, later, or swipe  →  </a:t>
            </a:r>
            <a:pPr indent="0" marL="0">
              <a:spcAft>
                <a:spcPts val="600"/>
              </a:spcAft>
              <a:buNone/>
            </a:pPr>
            <a:r>
              <a:rPr lang="en-US" sz="1500" b="1" dirty="0">
                <a:solidFill>
                  <a:srgbClr val="9B2D20"/>
                </a:solidFill>
                <a:latin typeface="Calibri" pitchFamily="34" charset="0"/>
                <a:ea typeface="Calibri" pitchFamily="34" charset="-122"/>
                <a:cs typeface="Calibri" pitchFamily="34" charset="-120"/>
              </a:rPr>
              <a:t>get back to what you were doing</a:t>
            </a:r>
            <a:pPr indent="0" marL="0">
              <a:spcAft>
                <a:spcPts val="600"/>
              </a:spcAft>
              <a:buNone/>
            </a:pPr>
            <a:endParaRPr lang="en-US" sz="1500" dirty="0"/>
          </a:p>
          <a:p>
            <a:pPr indent="0" marL="0">
              <a:spcAft>
                <a:spcPts val="600"/>
              </a:spcAft>
              <a:buNone/>
            </a:pPr>
            <a:r>
              <a:rPr lang="en-US" sz="1300" dirty="0">
                <a:solidFill>
                  <a:srgbClr val="6B6B6B"/>
                </a:solidFill>
                <a:latin typeface="Calibri" pitchFamily="34" charset="0"/>
                <a:ea typeface="Calibri" pitchFamily="34" charset="-122"/>
                <a:cs typeface="Calibri" pitchFamily="34" charset="-120"/>
              </a:rPr>
              <a:t>Apps rate their own urgency, and every time one pulls you for nothing you pay the time to get back.</a:t>
            </a:r>
            <a:endParaRPr lang="en-US" sz="1500" dirty="0"/>
          </a:p>
        </p:txBody>
      </p:sp>
      <p:sp>
        <p:nvSpPr>
          <p:cNvPr id="8" name="Text 6"/>
          <p:cNvSpPr txBox="1"/>
          <p:nvPr/>
        </p:nvSpPr>
        <p:spPr>
          <a:xfrm>
            <a:off x="8259775" y="1920240"/>
            <a:ext cx="3291840" cy="548640"/>
          </a:xfrm>
          <a:prstGeom prst="rect">
            <a:avLst/>
          </a:prstGeom>
          <a:noFill/>
          <a:ln/>
        </p:spPr>
        <p:txBody>
          <a:bodyPr wrap="square" lIns="0" tIns="0" rIns="0" bIns="0" rtlCol="0" anchor="ctr"/>
          <a:lstStyle/>
          <a:p>
            <a:pPr indent="0" marL="0">
              <a:buNone/>
            </a:pPr>
            <a:r>
              <a:rPr lang="en-US" sz="3600" b="1" dirty="0">
                <a:solidFill>
                  <a:srgbClr val="111111"/>
                </a:solidFill>
                <a:latin typeface="Calibri" pitchFamily="34" charset="0"/>
                <a:ea typeface="Calibri" pitchFamily="34" charset="-122"/>
                <a:cs typeface="Calibri" pitchFamily="34" charset="-120"/>
              </a:rPr>
              <a:t>237</a:t>
            </a:r>
            <a:endParaRPr lang="en-US" sz="3600" dirty="0"/>
          </a:p>
        </p:txBody>
      </p:sp>
      <p:sp>
        <p:nvSpPr>
          <p:cNvPr id="9" name="Text 7"/>
          <p:cNvSpPr txBox="1"/>
          <p:nvPr/>
        </p:nvSpPr>
        <p:spPr>
          <a:xfrm>
            <a:off x="8259775" y="2468880"/>
            <a:ext cx="3291840" cy="27432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notifications a day, median for teens</a:t>
            </a:r>
            <a:endParaRPr lang="en-US" sz="1300" dirty="0"/>
          </a:p>
        </p:txBody>
      </p:sp>
      <p:sp>
        <p:nvSpPr>
          <p:cNvPr id="10" name="Text 8"/>
          <p:cNvSpPr txBox="1"/>
          <p:nvPr/>
        </p:nvSpPr>
        <p:spPr>
          <a:xfrm>
            <a:off x="8259775" y="2743200"/>
            <a:ext cx="3291840" cy="228600"/>
          </a:xfrm>
          <a:prstGeom prst="rect">
            <a:avLst/>
          </a:prstGeom>
          <a:noFill/>
          <a:ln/>
        </p:spPr>
        <p:txBody>
          <a:bodyPr wrap="square" lIns="0" tIns="0" rIns="0" bIns="0" rtlCol="0" anchor="ctr"/>
          <a:lstStyle/>
          <a:p>
            <a:pPr indent="0" marL="0">
              <a:buNone/>
            </a:pPr>
            <a:r>
              <a:rPr lang="en-US" sz="1000" u="sng" dirty="0">
                <a:solidFill>
                  <a:srgbClr val="6B6B6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Common Sense Media, Constant Companion, 2023</a:t>
            </a:r>
            <a:endParaRPr lang="en-US" sz="1000" dirty="0"/>
          </a:p>
        </p:txBody>
      </p:sp>
      <p:sp>
        <p:nvSpPr>
          <p:cNvPr id="11" name="Text 9"/>
          <p:cNvSpPr txBox="1"/>
          <p:nvPr/>
        </p:nvSpPr>
        <p:spPr>
          <a:xfrm>
            <a:off x="8259775" y="3246120"/>
            <a:ext cx="3291840" cy="548640"/>
          </a:xfrm>
          <a:prstGeom prst="rect">
            <a:avLst/>
          </a:prstGeom>
          <a:noFill/>
          <a:ln/>
        </p:spPr>
        <p:txBody>
          <a:bodyPr wrap="square" lIns="0" tIns="0" rIns="0" bIns="0" rtlCol="0" anchor="ctr"/>
          <a:lstStyle/>
          <a:p>
            <a:pPr indent="0" marL="0">
              <a:buNone/>
            </a:pPr>
            <a:r>
              <a:rPr lang="en-US" sz="3600" b="1" dirty="0">
                <a:solidFill>
                  <a:srgbClr val="111111"/>
                </a:solidFill>
                <a:latin typeface="Calibri" pitchFamily="34" charset="0"/>
                <a:ea typeface="Calibri" pitchFamily="34" charset="-122"/>
                <a:cs typeface="Calibri" pitchFamily="34" charset="-120"/>
              </a:rPr>
              <a:t>47 s</a:t>
            </a:r>
            <a:endParaRPr lang="en-US" sz="3600" dirty="0"/>
          </a:p>
        </p:txBody>
      </p:sp>
      <p:sp>
        <p:nvSpPr>
          <p:cNvPr id="12" name="Text 10"/>
          <p:cNvSpPr txBox="1"/>
          <p:nvPr/>
        </p:nvSpPr>
        <p:spPr>
          <a:xfrm>
            <a:off x="8259775" y="3794760"/>
            <a:ext cx="3291840" cy="27432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average screen attention before switching</a:t>
            </a:r>
            <a:endParaRPr lang="en-US" sz="1300" dirty="0"/>
          </a:p>
        </p:txBody>
      </p:sp>
      <p:sp>
        <p:nvSpPr>
          <p:cNvPr id="13" name="Text 11"/>
          <p:cNvSpPr txBox="1"/>
          <p:nvPr/>
        </p:nvSpPr>
        <p:spPr>
          <a:xfrm>
            <a:off x="8259775" y="4069080"/>
            <a:ext cx="3291840" cy="228600"/>
          </a:xfrm>
          <a:prstGeom prst="rect">
            <a:avLst/>
          </a:prstGeom>
          <a:noFill/>
          <a:ln/>
        </p:spPr>
        <p:txBody>
          <a:bodyPr wrap="square" lIns="0" tIns="0" rIns="0" bIns="0" rtlCol="0" anchor="ctr"/>
          <a:lstStyle/>
          <a:p>
            <a:pPr indent="0" marL="0">
              <a:buNone/>
            </a:pPr>
            <a:r>
              <a:rPr lang="en-US" sz="1000" u="sng" dirty="0">
                <a:solidFill>
                  <a:srgbClr val="6B6B6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Gloria Mark, UC Irvine</a:t>
            </a:r>
            <a:endParaRPr lang="en-US" sz="1000" dirty="0"/>
          </a:p>
        </p:txBody>
      </p:sp>
      <p:sp>
        <p:nvSpPr>
          <p:cNvPr id="14" name="Text 12"/>
          <p:cNvSpPr txBox="1"/>
          <p:nvPr/>
        </p:nvSpPr>
        <p:spPr>
          <a:xfrm>
            <a:off x="8259775" y="4572000"/>
            <a:ext cx="3291840" cy="548640"/>
          </a:xfrm>
          <a:prstGeom prst="rect">
            <a:avLst/>
          </a:prstGeom>
          <a:noFill/>
          <a:ln/>
        </p:spPr>
        <p:txBody>
          <a:bodyPr wrap="square" lIns="0" tIns="0" rIns="0" bIns="0" rtlCol="0" anchor="ctr"/>
          <a:lstStyle/>
          <a:p>
            <a:pPr indent="0" marL="0">
              <a:buNone/>
            </a:pPr>
            <a:r>
              <a:rPr lang="en-US" sz="3600" b="1" dirty="0">
                <a:solidFill>
                  <a:srgbClr val="111111"/>
                </a:solidFill>
                <a:latin typeface="Calibri" pitchFamily="34" charset="0"/>
                <a:ea typeface="Calibri" pitchFamily="34" charset="-122"/>
                <a:cs typeface="Calibri" pitchFamily="34" charset="-120"/>
              </a:rPr>
              <a:t>23 min</a:t>
            </a:r>
            <a:endParaRPr lang="en-US" sz="3600" dirty="0"/>
          </a:p>
        </p:txBody>
      </p:sp>
      <p:sp>
        <p:nvSpPr>
          <p:cNvPr id="15" name="Text 13"/>
          <p:cNvSpPr txBox="1"/>
          <p:nvPr/>
        </p:nvSpPr>
        <p:spPr>
          <a:xfrm>
            <a:off x="8259775" y="5120640"/>
            <a:ext cx="3291840" cy="27432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to fully get back after an interruption</a:t>
            </a:r>
            <a:endParaRPr lang="en-US" sz="1300" dirty="0"/>
          </a:p>
        </p:txBody>
      </p:sp>
      <p:sp>
        <p:nvSpPr>
          <p:cNvPr id="16" name="Text 14"/>
          <p:cNvSpPr txBox="1"/>
          <p:nvPr/>
        </p:nvSpPr>
        <p:spPr>
          <a:xfrm>
            <a:off x="8259775" y="5394960"/>
            <a:ext cx="3291840" cy="228600"/>
          </a:xfrm>
          <a:prstGeom prst="rect">
            <a:avLst/>
          </a:prstGeom>
          <a:noFill/>
          <a:ln/>
        </p:spPr>
        <p:txBody>
          <a:bodyPr wrap="square" lIns="0" tIns="0" rIns="0" bIns="0" rtlCol="0" anchor="ctr"/>
          <a:lstStyle/>
          <a:p>
            <a:pPr indent="0" marL="0">
              <a:buNone/>
            </a:pPr>
            <a:r>
              <a:rPr lang="en-US" sz="1000" u="sng" dirty="0">
                <a:solidFill>
                  <a:srgbClr val="6B6B6B"/>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Mark, Gudith, Klocke, CHI 2008</a:t>
            </a:r>
            <a:endParaRPr lang="en-US" sz="1000" dirty="0"/>
          </a:p>
        </p:txBody>
      </p:sp>
      <p:sp>
        <p:nvSpPr>
          <p:cNvPr id="17" name="Text 15"/>
          <p:cNvSpPr txBox="1"/>
          <p:nvPr/>
        </p:nvSpPr>
        <p:spPr>
          <a:xfrm>
            <a:off x="640080" y="640080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Nathan Lu · MSE 302 IP.M1 · github.com/NathanL15/mse302-individual-project</a:t>
            </a:r>
            <a:endParaRPr lang="en-US" sz="900" dirty="0"/>
          </a:p>
        </p:txBody>
      </p:sp>
      <p:sp>
        <p:nvSpPr>
          <p:cNvPr id="18" name="Text 16"/>
          <p:cNvSpPr txBox="1"/>
          <p:nvPr/>
        </p:nvSpPr>
        <p:spPr>
          <a:xfrm>
            <a:off x="11094415" y="640080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502920"/>
            <a:ext cx="10911535" cy="731520"/>
          </a:xfrm>
          <a:prstGeom prst="rect">
            <a:avLst/>
          </a:prstGeom>
          <a:noFill/>
          <a:ln/>
        </p:spPr>
        <p:txBody>
          <a:bodyPr wrap="square" lIns="0" tIns="0" rIns="0" bIns="0" rtlCol="0" anchor="ctr"/>
          <a:lstStyle/>
          <a:p>
            <a:pPr indent="0" marL="0">
              <a:buNone/>
            </a:pPr>
            <a:r>
              <a:rPr lang="en-US" sz="3400" b="1" dirty="0">
                <a:solidFill>
                  <a:srgbClr val="111111"/>
                </a:solidFill>
                <a:latin typeface="Calibri" pitchFamily="34" charset="0"/>
                <a:ea typeface="Calibri" pitchFamily="34" charset="-122"/>
                <a:cs typeface="Calibri" pitchFamily="34" charset="-120"/>
              </a:rPr>
              <a:t>A.  What I've found so far, and the plan</a:t>
            </a:r>
            <a:endParaRPr lang="en-US" sz="3400" dirty="0"/>
          </a:p>
        </p:txBody>
      </p:sp>
      <p:sp>
        <p:nvSpPr>
          <p:cNvPr id="3" name="Text 1"/>
          <p:cNvSpPr txBox="1"/>
          <p:nvPr/>
        </p:nvSpPr>
        <p:spPr>
          <a:xfrm>
            <a:off x="640080" y="1463040"/>
            <a:ext cx="5120640"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Already out there</a:t>
            </a:r>
            <a:endParaRPr lang="en-US" sz="1100" dirty="0"/>
          </a:p>
        </p:txBody>
      </p:sp>
      <p:sp>
        <p:nvSpPr>
          <p:cNvPr id="4" name="Text 2"/>
          <p:cNvSpPr txBox="1"/>
          <p:nvPr/>
        </p:nvSpPr>
        <p:spPr>
          <a:xfrm>
            <a:off x="640080" y="1783080"/>
            <a:ext cx="5120640" cy="21031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11111"/>
                </a:solidFill>
                <a:latin typeface="Calibri" pitchFamily="34" charset="0"/>
                <a:ea typeface="Calibri" pitchFamily="34" charset="-122"/>
                <a:cs typeface="Calibri" pitchFamily="34" charset="-120"/>
              </a:rPr>
              <a:t>Apple Priority Notifications (iOS 18.4), on-device ranking, iPhone 15 Pro and up only, off by default</a:t>
            </a:r>
            <a:endParaRPr lang="en-US" sz="1400" dirty="0"/>
          </a:p>
          <a:p>
            <a:pPr marL="342900" indent="-342900">
              <a:spcAft>
                <a:spcPts val="500"/>
              </a:spcAft>
              <a:buSzPct val="100000"/>
              <a:buChar char="•"/>
            </a:pPr>
            <a:r>
              <a:rPr lang="en-US" sz="1400" dirty="0">
                <a:solidFill>
                  <a:srgbClr val="111111"/>
                </a:solidFill>
                <a:latin typeface="Calibri" pitchFamily="34" charset="0"/>
                <a:ea typeface="Calibri" pitchFamily="34" charset="-122"/>
                <a:cs typeface="Calibri" pitchFamily="34" charset="-120"/>
              </a:rPr>
              <a:t>Android 16 notification organizer and summaries, Pixel 9 and 10 only</a:t>
            </a:r>
            <a:endParaRPr lang="en-US" sz="1400" dirty="0"/>
          </a:p>
          <a:p>
            <a:pPr marL="342900" indent="-342900">
              <a:spcAft>
                <a:spcPts val="500"/>
              </a:spcAft>
              <a:buSzPct val="100000"/>
              <a:buChar char="•"/>
            </a:pPr>
            <a:r>
              <a:rPr lang="en-US" sz="1400" dirty="0">
                <a:solidFill>
                  <a:srgbClr val="111111"/>
                </a:solidFill>
                <a:latin typeface="Calibri" pitchFamily="34" charset="0"/>
                <a:ea typeface="Calibri" pitchFamily="34" charset="-122"/>
                <a:cs typeface="Calibri" pitchFamily="34" charset="-120"/>
              </a:rPr>
              <a:t>Focus modes and Do Not Disturb on every OS, all rule-based and rarely revisited</a:t>
            </a:r>
            <a:endParaRPr lang="en-US" sz="1400" dirty="0"/>
          </a:p>
          <a:p>
            <a:pPr marL="342900" indent="-342900">
              <a:spcAft>
                <a:spcPts val="500"/>
              </a:spcAft>
              <a:buSzPct val="100000"/>
              <a:buChar char="•"/>
            </a:pPr>
            <a:r>
              <a:rPr lang="en-US" sz="1400" dirty="0">
                <a:solidFill>
                  <a:srgbClr val="111111"/>
                </a:solidFill>
                <a:latin typeface="Calibri" pitchFamily="34" charset="0"/>
                <a:ea typeface="Calibri" pitchFamily="34" charset="-122"/>
                <a:cs typeface="Calibri" pitchFamily="34" charset="-120"/>
              </a:rPr>
              <a:t>Third-party managers like BuzzKill and FilterBox, Android only</a:t>
            </a:r>
            <a:endParaRPr lang="en-US" sz="1400" dirty="0"/>
          </a:p>
        </p:txBody>
      </p:sp>
      <p:sp>
        <p:nvSpPr>
          <p:cNvPr id="5" name="Text 3"/>
          <p:cNvSpPr txBox="1"/>
          <p:nvPr/>
        </p:nvSpPr>
        <p:spPr>
          <a:xfrm>
            <a:off x="640080" y="3977640"/>
            <a:ext cx="5120640"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Biggest unknowns</a:t>
            </a:r>
            <a:endParaRPr lang="en-US" sz="1100" dirty="0"/>
          </a:p>
        </p:txBody>
      </p:sp>
      <p:sp>
        <p:nvSpPr>
          <p:cNvPr id="6" name="Text 4"/>
          <p:cNvSpPr txBox="1"/>
          <p:nvPr/>
        </p:nvSpPr>
        <p:spPr>
          <a:xfrm>
            <a:off x="640080" y="4297680"/>
            <a:ext cx="512064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11111"/>
                </a:solidFill>
                <a:latin typeface="Calibri" pitchFamily="34" charset="0"/>
                <a:ea typeface="Calibri" pitchFamily="34" charset="-122"/>
                <a:cs typeface="Calibri" pitchFamily="34" charset="-120"/>
              </a:rPr>
              <a:t>What fraction of notifications actually get acted on, by category and platform</a:t>
            </a:r>
            <a:endParaRPr lang="en-US" sz="1400" dirty="0"/>
          </a:p>
          <a:p>
            <a:pPr marL="342900" indent="-342900">
              <a:spcAft>
                <a:spcPts val="500"/>
              </a:spcAft>
              <a:buSzPct val="100000"/>
              <a:buChar char="•"/>
            </a:pPr>
            <a:r>
              <a:rPr lang="en-US" sz="1400" dirty="0">
                <a:solidFill>
                  <a:srgbClr val="111111"/>
                </a:solidFill>
                <a:latin typeface="Calibri" pitchFamily="34" charset="0"/>
                <a:ea typeface="Calibri" pitchFamily="34" charset="-122"/>
                <a:cs typeface="Calibri" pitchFamily="34" charset="-120"/>
              </a:rPr>
              <a:t>Whether missing one urgent message costs more than all the interruptions it saves</a:t>
            </a:r>
            <a:endParaRPr lang="en-US" sz="1400" dirty="0"/>
          </a:p>
          <a:p>
            <a:pPr marL="342900" indent="-342900">
              <a:spcAft>
                <a:spcPts val="500"/>
              </a:spcAft>
              <a:buSzPct val="100000"/>
              <a:buChar char="•"/>
            </a:pPr>
            <a:r>
              <a:rPr lang="en-US" sz="1400" dirty="0">
                <a:solidFill>
                  <a:srgbClr val="111111"/>
                </a:solidFill>
                <a:latin typeface="Calibri" pitchFamily="34" charset="0"/>
                <a:ea typeface="Calibri" pitchFamily="34" charset="-122"/>
                <a:cs typeface="Calibri" pitchFamily="34" charset="-120"/>
              </a:rPr>
              <a:t>What a third-party app can even see per OS, and iOS doesn't really give you anything</a:t>
            </a:r>
            <a:endParaRPr lang="en-US" sz="1400" dirty="0"/>
          </a:p>
        </p:txBody>
      </p:sp>
      <p:sp>
        <p:nvSpPr>
          <p:cNvPr id="7" name="Text 5"/>
          <p:cNvSpPr txBox="1"/>
          <p:nvPr/>
        </p:nvSpPr>
        <p:spPr>
          <a:xfrm>
            <a:off x="6309360" y="1463040"/>
            <a:ext cx="5242255"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Plan to Oct 19 (public sources only)</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309360" y="1783080"/>
          <a:ext cx="5242255" cy="914400"/>
        </p:xfrm>
        <a:graphic>
          <a:graphicData uri="http://schemas.openxmlformats.org/drawingml/2006/table">
            <a:tbl>
              <a:tblPr/>
              <a:tblGrid>
                <a:gridCol w="3322015"/>
                <a:gridCol w="1371600"/>
                <a:gridCol w="548640"/>
              </a:tblGrid>
              <a:tr h="274320">
                <a:tc>
                  <a:txBody>
                    <a:bodyPr/>
                    <a:lstStyle/>
                    <a:p>
                      <a:pPr indent="0" marL="0">
                        <a:buNone/>
                      </a:pPr>
                      <a:r>
                        <a:rPr lang="en-US" sz="1000" b="1" dirty="0">
                          <a:solidFill>
                            <a:srgbClr val="6B6B6B"/>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00" b="1" dirty="0">
                          <a:solidFill>
                            <a:srgbClr val="6B6B6B"/>
                          </a:solidFill>
                          <a:latin typeface="Calibri" pitchFamily="34" charset="0"/>
                          <a:ea typeface="Calibri" pitchFamily="34" charset="-122"/>
                          <a:cs typeface="Calibri" pitchFamily="34" charset="-120"/>
                        </a:rPr>
                        <a:t>When</a:t>
                      </a:r>
                      <a:endParaRPr lang="en-US" sz="100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00" b="1" dirty="0">
                          <a:solidFill>
                            <a:srgbClr val="6B6B6B"/>
                          </a:solidFill>
                          <a:latin typeface="Calibri" pitchFamily="34" charset="0"/>
                          <a:ea typeface="Calibri" pitchFamily="34" charset="-122"/>
                          <a:cs typeface="Calibri" pitchFamily="34" charset="-120"/>
                        </a:rPr>
                        <a:t>Hours</a:t>
                      </a:r>
                      <a:endParaRPr lang="en-US" sz="100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Platform capability audit (Apple, Google, Microsoft docs)</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Sep 24 to 27</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50" dirty="0">
                          <a:solidFill>
                            <a:srgbClr val="111111"/>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Literature review, Scopus, 10 to 12 papers</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Sep 27 to Oct 2</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50" dirty="0">
                          <a:solidFill>
                            <a:srgbClr val="111111"/>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Benchmark OS features and 6 to 8 third-party managers</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Oct 2 to 5</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50" dirty="0">
                          <a:solidFill>
                            <a:srgbClr val="111111"/>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Tag 80 to 100 Reddit, Hacker News and app store posts</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Oct 5 to 9</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50" dirty="0">
                          <a:solidFill>
                            <a:srgbClr val="111111"/>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Analogous contexts: priority inbox, ICU alarm fatigue</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Oct 9 to 11</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50" dirty="0">
                          <a:solidFill>
                            <a:srgbClr val="111111"/>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Synthesis: stakeholder map, journey map, gap list</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Oct 11 to 15</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50" dirty="0">
                          <a:solidFill>
                            <a:srgbClr val="111111"/>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Milestone 3 write-up</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Oct 15 to 18</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50" dirty="0">
                          <a:solidFill>
                            <a:srgbClr val="111111"/>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9" name="Text 6"/>
          <p:cNvSpPr txBox="1"/>
          <p:nvPr/>
        </p:nvSpPr>
        <p:spPr>
          <a:xfrm>
            <a:off x="6309360" y="4297680"/>
            <a:ext cx="5242255"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Questions for you</a:t>
            </a:r>
            <a:endParaRPr lang="en-US" sz="1100" dirty="0"/>
          </a:p>
        </p:txBody>
      </p:sp>
      <p:sp>
        <p:nvSpPr>
          <p:cNvPr id="10" name="Text 7"/>
          <p:cNvSpPr txBox="1"/>
          <p:nvPr/>
        </p:nvSpPr>
        <p:spPr>
          <a:xfrm>
            <a:off x="6309360" y="4590288"/>
            <a:ext cx="5242255" cy="13716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500" b="1" dirty="0">
                <a:solidFill>
                  <a:srgbClr val="9B2D20"/>
                </a:solidFill>
                <a:latin typeface="Calibri" pitchFamily="34" charset="0"/>
                <a:ea typeface="Calibri" pitchFamily="34" charset="-122"/>
                <a:cs typeface="Calibri" pitchFamily="34" charset="-120"/>
              </a:rPr>
              <a:t>Is the desktop pile a different problem from the phone pile?</a:t>
            </a:r>
            <a:endParaRPr lang="en-US" sz="1500" dirty="0"/>
          </a:p>
          <a:p>
            <a:pPr marL="342900" indent="-342900">
              <a:spcAft>
                <a:spcPts val="500"/>
              </a:spcAft>
              <a:buSzPct val="100000"/>
              <a:buFont typeface="+mj-lt"/>
              <a:buAutoNum type="arabicPeriod" startAt="1"/>
            </a:pPr>
            <a:r>
              <a:rPr lang="en-US" sz="1500" b="1" dirty="0">
                <a:solidFill>
                  <a:srgbClr val="9B2D20"/>
                </a:solidFill>
                <a:latin typeface="Calibri" pitchFamily="34" charset="0"/>
                <a:ea typeface="Calibri" pitchFamily="34" charset="-122"/>
                <a:cs typeface="Calibri" pitchFamily="34" charset="-120"/>
              </a:rPr>
              <a:t>What sources am I missing outside of HCI papers?</a:t>
            </a:r>
            <a:endParaRPr lang="en-US" sz="1500" dirty="0"/>
          </a:p>
          <a:p>
            <a:pPr marL="342900" indent="-342900">
              <a:spcAft>
                <a:spcPts val="500"/>
              </a:spcAft>
              <a:buSzPct val="100000"/>
              <a:buFont typeface="+mj-lt"/>
              <a:buAutoNum type="arabicPeriod" startAt="1"/>
            </a:pPr>
            <a:r>
              <a:rPr lang="en-US" sz="1500" b="1" dirty="0">
                <a:solidFill>
                  <a:srgbClr val="9B2D20"/>
                </a:solidFill>
                <a:latin typeface="Calibri" pitchFamily="34" charset="0"/>
                <a:ea typeface="Calibri" pitchFamily="34" charset="-122"/>
                <a:cs typeface="Calibri" pitchFamily="34" charset="-120"/>
              </a:rPr>
              <a:t>Is missing one urgent message worse than all the interruptions it saves?</a:t>
            </a:r>
            <a:endParaRPr lang="en-US" sz="1500" dirty="0"/>
          </a:p>
        </p:txBody>
      </p:sp>
      <p:sp>
        <p:nvSpPr>
          <p:cNvPr id="11" name="Text 8"/>
          <p:cNvSpPr txBox="1"/>
          <p:nvPr/>
        </p:nvSpPr>
        <p:spPr>
          <a:xfrm>
            <a:off x="640080" y="640080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Nathan Lu · MSE 302 IP.M1 · github.com/NathanL15/mse302-individual-project</a:t>
            </a:r>
            <a:endParaRPr lang="en-US" sz="900" dirty="0"/>
          </a:p>
        </p:txBody>
      </p:sp>
      <p:sp>
        <p:nvSpPr>
          <p:cNvPr id="12" name="Text 9"/>
          <p:cNvSpPr txBox="1"/>
          <p:nvPr/>
        </p:nvSpPr>
        <p:spPr>
          <a:xfrm>
            <a:off x="11094415" y="640080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502920"/>
            <a:ext cx="10911535" cy="731520"/>
          </a:xfrm>
          <a:prstGeom prst="rect">
            <a:avLst/>
          </a:prstGeom>
          <a:noFill/>
          <a:ln/>
        </p:spPr>
        <p:txBody>
          <a:bodyPr wrap="square" lIns="0" tIns="0" rIns="0" bIns="0" rtlCol="0" anchor="ctr"/>
          <a:lstStyle/>
          <a:p>
            <a:pPr indent="0" marL="0">
              <a:buNone/>
            </a:pPr>
            <a:r>
              <a:rPr lang="en-US" sz="3400" b="1" dirty="0">
                <a:solidFill>
                  <a:srgbClr val="111111"/>
                </a:solidFill>
                <a:latin typeface="Calibri" pitchFamily="34" charset="0"/>
                <a:ea typeface="Calibri" pitchFamily="34" charset="-122"/>
                <a:cs typeface="Calibri" pitchFamily="34" charset="-120"/>
              </a:rPr>
              <a:t>B.  Losing your place after switching between apps</a:t>
            </a:r>
            <a:endParaRPr lang="en-US" sz="3400" dirty="0"/>
          </a:p>
        </p:txBody>
      </p:sp>
      <p:sp>
        <p:nvSpPr>
          <p:cNvPr id="3" name="Text 1"/>
          <p:cNvSpPr txBox="1"/>
          <p:nvPr/>
        </p:nvSpPr>
        <p:spPr>
          <a:xfrm>
            <a:off x="640080" y="1234440"/>
            <a:ext cx="10911535" cy="365760"/>
          </a:xfrm>
          <a:prstGeom prst="rect">
            <a:avLst/>
          </a:prstGeom>
          <a:noFill/>
          <a:ln/>
        </p:spPr>
        <p:txBody>
          <a:bodyPr wrap="square" lIns="0" tIns="0" rIns="0" bIns="0" rtlCol="0" anchor="ctr"/>
          <a:lstStyle/>
          <a:p>
            <a:pPr indent="0" marL="0">
              <a:buNone/>
            </a:pPr>
            <a:r>
              <a:rPr lang="en-US" sz="1500" dirty="0">
                <a:solidFill>
                  <a:srgbClr val="6B6B6B"/>
                </a:solidFill>
                <a:latin typeface="Calibri" pitchFamily="34" charset="0"/>
                <a:ea typeface="Calibri" pitchFamily="34" charset="-122"/>
                <a:cs typeface="Calibri" pitchFamily="34" charset="-120"/>
              </a:rPr>
              <a:t>Students and knowledge workers who have one task spread across tabs, chats, docs, a terminal and notes.</a:t>
            </a:r>
            <a:endParaRPr lang="en-US" sz="1500" dirty="0"/>
          </a:p>
        </p:txBody>
      </p:sp>
      <p:sp>
        <p:nvSpPr>
          <p:cNvPr id="4" name="Text 2"/>
          <p:cNvSpPr txBox="1"/>
          <p:nvPr/>
        </p:nvSpPr>
        <p:spPr>
          <a:xfrm>
            <a:off x="640080" y="1920240"/>
            <a:ext cx="6949440"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What goes wrong</a:t>
            </a:r>
            <a:endParaRPr lang="en-US" sz="1100" dirty="0"/>
          </a:p>
        </p:txBody>
      </p:sp>
      <p:sp>
        <p:nvSpPr>
          <p:cNvPr id="5" name="Text 3"/>
          <p:cNvSpPr txBox="1"/>
          <p:nvPr/>
        </p:nvSpPr>
        <p:spPr>
          <a:xfrm>
            <a:off x="640080" y="2240280"/>
            <a:ext cx="6949440" cy="1737360"/>
          </a:xfrm>
          <a:prstGeom prst="rect">
            <a:avLst/>
          </a:prstGeom>
          <a:noFill/>
          <a:ln/>
        </p:spPr>
        <p:txBody>
          <a:bodyPr wrap="square" lIns="0" tIns="0" rIns="0" bIns="0" rtlCol="0" anchor="t"/>
          <a:lstStyle/>
          <a:p>
            <a:pPr indent="0" marL="0">
              <a:spcAft>
                <a:spcPts val="600"/>
              </a:spcAft>
              <a:buNone/>
            </a:pPr>
            <a:r>
              <a:rPr lang="en-US" sz="1500" dirty="0">
                <a:solidFill>
                  <a:srgbClr val="111111"/>
                </a:solidFill>
                <a:latin typeface="Calibri" pitchFamily="34" charset="0"/>
                <a:ea typeface="Calibri" pitchFamily="34" charset="-122"/>
                <a:cs typeface="Calibri" pitchFamily="34" charset="-120"/>
              </a:rPr>
              <a:t>When you switch, because someone messaged you or you just wandered off, there isn't really anything that saves where you were. Getting back means finding the tabs and the thread again and re-reading to remember what you were doing, and some stuff never gets picked back up. The tools that try to help either restore your window layout, or they record everything and set off a privacy backlash.</a:t>
            </a:r>
            <a:endParaRPr lang="en-US" sz="1500" dirty="0"/>
          </a:p>
        </p:txBody>
      </p:sp>
      <p:sp>
        <p:nvSpPr>
          <p:cNvPr id="6" name="Text 4"/>
          <p:cNvSpPr txBox="1"/>
          <p:nvPr/>
        </p:nvSpPr>
        <p:spPr>
          <a:xfrm>
            <a:off x="640080" y="4114800"/>
            <a:ext cx="6949440"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How it plays out</a:t>
            </a:r>
            <a:endParaRPr lang="en-US" sz="1100" dirty="0"/>
          </a:p>
        </p:txBody>
      </p:sp>
      <p:sp>
        <p:nvSpPr>
          <p:cNvPr id="7" name="Text 5"/>
          <p:cNvSpPr txBox="1"/>
          <p:nvPr/>
        </p:nvSpPr>
        <p:spPr>
          <a:xfrm>
            <a:off x="640080" y="4434840"/>
            <a:ext cx="6949440" cy="1645920"/>
          </a:xfrm>
          <a:prstGeom prst="rect">
            <a:avLst/>
          </a:prstGeom>
          <a:noFill/>
          <a:ln/>
        </p:spPr>
        <p:txBody>
          <a:bodyPr wrap="square" lIns="0" tIns="0" rIns="0" bIns="0" rtlCol="0" anchor="t"/>
          <a:lstStyle/>
          <a:p>
            <a:pPr indent="0" marL="0">
              <a:spcAft>
                <a:spcPts val="600"/>
              </a:spcAft>
              <a:buNone/>
            </a:pPr>
            <a:r>
              <a:rPr lang="en-US" sz="1500" dirty="0">
                <a:solidFill>
                  <a:srgbClr val="111111"/>
                </a:solidFill>
                <a:latin typeface="Calibri" pitchFamily="34" charset="0"/>
                <a:ea typeface="Calibri" pitchFamily="34" charset="-122"/>
                <a:cs typeface="Calibri" pitchFamily="34" charset="-120"/>
              </a:rPr>
              <a:t>Working on A  →  a ping, or you wander off  →  open stuff for B  →  </a:t>
            </a:r>
            <a:pPr indent="0" marL="0">
              <a:spcAft>
                <a:spcPts val="600"/>
              </a:spcAft>
              <a:buNone/>
            </a:pPr>
            <a:r>
              <a:rPr lang="en-US" sz="1500" b="1" dirty="0">
                <a:solidFill>
                  <a:srgbClr val="9B2D20"/>
                </a:solidFill>
                <a:latin typeface="Calibri" pitchFamily="34" charset="0"/>
                <a:ea typeface="Calibri" pitchFamily="34" charset="-122"/>
                <a:cs typeface="Calibri" pitchFamily="34" charset="-120"/>
              </a:rPr>
              <a:t>try to go back: what was it? where are the tabs?</a:t>
            </a:r>
            <a:pPr indent="0" marL="0">
              <a:spcAft>
                <a:spcPts val="600"/>
              </a:spcAft>
              <a:buNone/>
            </a:pPr>
            <a:r>
              <a:rPr lang="en-US" sz="1500" dirty="0">
                <a:solidFill>
                  <a:srgbClr val="111111"/>
                </a:solidFill>
                <a:latin typeface="Calibri" pitchFamily="34" charset="0"/>
                <a:ea typeface="Calibri" pitchFamily="34" charset="-122"/>
                <a:cs typeface="Calibri" pitchFamily="34" charset="-120"/>
              </a:rPr>
              <a:t>  →  resume A with B still in your head</a:t>
            </a:r>
            <a:pPr indent="0" marL="0">
              <a:spcAft>
                <a:spcPts val="600"/>
              </a:spcAft>
              <a:buNone/>
            </a:pPr>
            <a:endParaRPr lang="en-US" sz="1500" dirty="0"/>
          </a:p>
          <a:p>
            <a:pPr indent="0" marL="0">
              <a:spcAft>
                <a:spcPts val="600"/>
              </a:spcAft>
              <a:buNone/>
            </a:pPr>
            <a:r>
              <a:rPr lang="en-US" sz="1300" dirty="0">
                <a:solidFill>
                  <a:srgbClr val="6B6B6B"/>
                </a:solidFill>
                <a:latin typeface="Calibri" pitchFamily="34" charset="0"/>
                <a:ea typeface="Calibri" pitchFamily="34" charset="-122"/>
                <a:cs typeface="Calibri" pitchFamily="34" charset="-120"/>
              </a:rPr>
              <a:t>There isn't really anything that saves where you were, so you end up carrying the context between your own apps yourself.</a:t>
            </a:r>
            <a:endParaRPr lang="en-US" sz="1500" dirty="0"/>
          </a:p>
        </p:txBody>
      </p:sp>
      <p:sp>
        <p:nvSpPr>
          <p:cNvPr id="8" name="Text 6"/>
          <p:cNvSpPr txBox="1"/>
          <p:nvPr/>
        </p:nvSpPr>
        <p:spPr>
          <a:xfrm>
            <a:off x="8259775" y="1920240"/>
            <a:ext cx="3291840" cy="548640"/>
          </a:xfrm>
          <a:prstGeom prst="rect">
            <a:avLst/>
          </a:prstGeom>
          <a:noFill/>
          <a:ln/>
        </p:spPr>
        <p:txBody>
          <a:bodyPr wrap="square" lIns="0" tIns="0" rIns="0" bIns="0" rtlCol="0" anchor="ctr"/>
          <a:lstStyle/>
          <a:p>
            <a:pPr indent="0" marL="0">
              <a:buNone/>
            </a:pPr>
            <a:r>
              <a:rPr lang="en-US" sz="3600" b="1" dirty="0">
                <a:solidFill>
                  <a:srgbClr val="111111"/>
                </a:solidFill>
                <a:latin typeface="Calibri" pitchFamily="34" charset="0"/>
                <a:ea typeface="Calibri" pitchFamily="34" charset="-122"/>
                <a:cs typeface="Calibri" pitchFamily="34" charset="-120"/>
              </a:rPr>
              <a:t>2.5 min → 47 s</a:t>
            </a:r>
            <a:endParaRPr lang="en-US" sz="3600" dirty="0"/>
          </a:p>
        </p:txBody>
      </p:sp>
      <p:sp>
        <p:nvSpPr>
          <p:cNvPr id="9" name="Text 7"/>
          <p:cNvSpPr txBox="1"/>
          <p:nvPr/>
        </p:nvSpPr>
        <p:spPr>
          <a:xfrm>
            <a:off x="8259775" y="2468880"/>
            <a:ext cx="3291840" cy="27432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screen attention, 2004 vs now</a:t>
            </a:r>
            <a:endParaRPr lang="en-US" sz="1300" dirty="0"/>
          </a:p>
        </p:txBody>
      </p:sp>
      <p:sp>
        <p:nvSpPr>
          <p:cNvPr id="10" name="Text 8"/>
          <p:cNvSpPr txBox="1"/>
          <p:nvPr/>
        </p:nvSpPr>
        <p:spPr>
          <a:xfrm>
            <a:off x="8259775" y="2743200"/>
            <a:ext cx="3291840" cy="228600"/>
          </a:xfrm>
          <a:prstGeom prst="rect">
            <a:avLst/>
          </a:prstGeom>
          <a:noFill/>
          <a:ln/>
        </p:spPr>
        <p:txBody>
          <a:bodyPr wrap="square" lIns="0" tIns="0" rIns="0" bIns="0" rtlCol="0" anchor="ctr"/>
          <a:lstStyle/>
          <a:p>
            <a:pPr indent="0" marL="0">
              <a:buNone/>
            </a:pPr>
            <a:r>
              <a:rPr lang="en-US" sz="1000" u="sng" dirty="0">
                <a:solidFill>
                  <a:srgbClr val="6B6B6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Gloria Mark, UC Irvine</a:t>
            </a:r>
            <a:endParaRPr lang="en-US" sz="1000" dirty="0"/>
          </a:p>
        </p:txBody>
      </p:sp>
      <p:sp>
        <p:nvSpPr>
          <p:cNvPr id="11" name="Text 9"/>
          <p:cNvSpPr txBox="1"/>
          <p:nvPr/>
        </p:nvSpPr>
        <p:spPr>
          <a:xfrm>
            <a:off x="8259775" y="3246120"/>
            <a:ext cx="3291840" cy="548640"/>
          </a:xfrm>
          <a:prstGeom prst="rect">
            <a:avLst/>
          </a:prstGeom>
          <a:noFill/>
          <a:ln/>
        </p:spPr>
        <p:txBody>
          <a:bodyPr wrap="square" lIns="0" tIns="0" rIns="0" bIns="0" rtlCol="0" anchor="ctr"/>
          <a:lstStyle/>
          <a:p>
            <a:pPr indent="0" marL="0">
              <a:buNone/>
            </a:pPr>
            <a:r>
              <a:rPr lang="en-US" sz="3600" b="1" dirty="0">
                <a:solidFill>
                  <a:srgbClr val="111111"/>
                </a:solidFill>
                <a:latin typeface="Calibri" pitchFamily="34" charset="0"/>
                <a:ea typeface="Calibri" pitchFamily="34" charset="-122"/>
                <a:cs typeface="Calibri" pitchFamily="34" charset="-120"/>
              </a:rPr>
              <a:t>25 min</a:t>
            </a:r>
            <a:endParaRPr lang="en-US" sz="3600" dirty="0"/>
          </a:p>
        </p:txBody>
      </p:sp>
      <p:sp>
        <p:nvSpPr>
          <p:cNvPr id="12" name="Text 10"/>
          <p:cNvSpPr txBox="1"/>
          <p:nvPr/>
        </p:nvSpPr>
        <p:spPr>
          <a:xfrm>
            <a:off x="8259775" y="3794760"/>
            <a:ext cx="3291840" cy="27432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to get back, usually via 2+ other tasks</a:t>
            </a:r>
            <a:endParaRPr lang="en-US" sz="1300" dirty="0"/>
          </a:p>
        </p:txBody>
      </p:sp>
      <p:sp>
        <p:nvSpPr>
          <p:cNvPr id="13" name="Text 11"/>
          <p:cNvSpPr txBox="1"/>
          <p:nvPr/>
        </p:nvSpPr>
        <p:spPr>
          <a:xfrm>
            <a:off x="8259775" y="4069080"/>
            <a:ext cx="3291840" cy="228600"/>
          </a:xfrm>
          <a:prstGeom prst="rect">
            <a:avLst/>
          </a:prstGeom>
          <a:noFill/>
          <a:ln/>
        </p:spPr>
        <p:txBody>
          <a:bodyPr wrap="square" lIns="0" tIns="0" rIns="0" bIns="0" rtlCol="0" anchor="ctr"/>
          <a:lstStyle/>
          <a:p>
            <a:pPr indent="0" marL="0">
              <a:buNone/>
            </a:pPr>
            <a:r>
              <a:rPr lang="en-US" sz="1000" u="sng" dirty="0">
                <a:solidFill>
                  <a:srgbClr val="6B6B6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Mark, Gonzalez, Harris, CHI 2005</a:t>
            </a:r>
            <a:endParaRPr lang="en-US" sz="1000" dirty="0"/>
          </a:p>
        </p:txBody>
      </p:sp>
      <p:sp>
        <p:nvSpPr>
          <p:cNvPr id="14" name="Text 12"/>
          <p:cNvSpPr txBox="1"/>
          <p:nvPr/>
        </p:nvSpPr>
        <p:spPr>
          <a:xfrm>
            <a:off x="8259775" y="4572000"/>
            <a:ext cx="3291840" cy="548640"/>
          </a:xfrm>
          <a:prstGeom prst="rect">
            <a:avLst/>
          </a:prstGeom>
          <a:noFill/>
          <a:ln/>
        </p:spPr>
        <p:txBody>
          <a:bodyPr wrap="square" lIns="0" tIns="0" rIns="0" bIns="0" rtlCol="0" anchor="ctr"/>
          <a:lstStyle/>
          <a:p>
            <a:pPr indent="0" marL="0">
              <a:buNone/>
            </a:pPr>
            <a:r>
              <a:rPr lang="en-US" sz="3600" b="1" dirty="0">
                <a:solidFill>
                  <a:srgbClr val="111111"/>
                </a:solidFill>
                <a:latin typeface="Calibri" pitchFamily="34" charset="0"/>
                <a:ea typeface="Calibri" pitchFamily="34" charset="-122"/>
                <a:cs typeface="Calibri" pitchFamily="34" charset="-120"/>
              </a:rPr>
              <a:t>275</a:t>
            </a:r>
            <a:endParaRPr lang="en-US" sz="3600" dirty="0"/>
          </a:p>
        </p:txBody>
      </p:sp>
      <p:sp>
        <p:nvSpPr>
          <p:cNvPr id="15" name="Text 13"/>
          <p:cNvSpPr txBox="1"/>
          <p:nvPr/>
        </p:nvSpPr>
        <p:spPr>
          <a:xfrm>
            <a:off x="8259775" y="5120640"/>
            <a:ext cx="3291840" cy="274320"/>
          </a:xfrm>
          <a:prstGeom prst="rect">
            <a:avLst/>
          </a:prstGeom>
          <a:noFill/>
          <a:ln/>
        </p:spPr>
        <p:txBody>
          <a:bodyPr wrap="square" lIns="0" tIns="0" rIns="0" bIns="0" rtlCol="0" anchor="ctr"/>
          <a:lstStyle/>
          <a:p>
            <a:pPr indent="0" marL="0">
              <a:buNone/>
            </a:pPr>
            <a:r>
              <a:rPr lang="en-US" sz="1300" dirty="0">
                <a:solidFill>
                  <a:srgbClr val="111111"/>
                </a:solidFill>
                <a:latin typeface="Calibri" pitchFamily="34" charset="0"/>
                <a:ea typeface="Calibri" pitchFamily="34" charset="-122"/>
                <a:cs typeface="Calibri" pitchFamily="34" charset="-120"/>
              </a:rPr>
              <a:t>interruptions a day at work</a:t>
            </a:r>
            <a:endParaRPr lang="en-US" sz="1300" dirty="0"/>
          </a:p>
        </p:txBody>
      </p:sp>
      <p:sp>
        <p:nvSpPr>
          <p:cNvPr id="16" name="Text 14"/>
          <p:cNvSpPr txBox="1"/>
          <p:nvPr/>
        </p:nvSpPr>
        <p:spPr>
          <a:xfrm>
            <a:off x="8259775" y="5394960"/>
            <a:ext cx="3291840" cy="228600"/>
          </a:xfrm>
          <a:prstGeom prst="rect">
            <a:avLst/>
          </a:prstGeom>
          <a:noFill/>
          <a:ln/>
        </p:spPr>
        <p:txBody>
          <a:bodyPr wrap="square" lIns="0" tIns="0" rIns="0" bIns="0" rtlCol="0" anchor="ctr"/>
          <a:lstStyle/>
          <a:p>
            <a:pPr indent="0" marL="0">
              <a:buNone/>
            </a:pPr>
            <a:r>
              <a:rPr lang="en-US" sz="1000" u="sng" dirty="0">
                <a:solidFill>
                  <a:srgbClr val="6B6B6B"/>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Microsoft Work Trend Index, 2025</a:t>
            </a:r>
            <a:endParaRPr lang="en-US" sz="1000" dirty="0"/>
          </a:p>
        </p:txBody>
      </p:sp>
      <p:sp>
        <p:nvSpPr>
          <p:cNvPr id="17" name="Text 15"/>
          <p:cNvSpPr txBox="1"/>
          <p:nvPr/>
        </p:nvSpPr>
        <p:spPr>
          <a:xfrm>
            <a:off x="640080" y="640080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Nathan Lu · MSE 302 IP.M1 · github.com/NathanL15/mse302-individual-project</a:t>
            </a:r>
            <a:endParaRPr lang="en-US" sz="900" dirty="0"/>
          </a:p>
        </p:txBody>
      </p:sp>
      <p:sp>
        <p:nvSpPr>
          <p:cNvPr id="18" name="Text 16"/>
          <p:cNvSpPr txBox="1"/>
          <p:nvPr/>
        </p:nvSpPr>
        <p:spPr>
          <a:xfrm>
            <a:off x="11094415" y="640080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502920"/>
            <a:ext cx="10911535" cy="731520"/>
          </a:xfrm>
          <a:prstGeom prst="rect">
            <a:avLst/>
          </a:prstGeom>
          <a:noFill/>
          <a:ln/>
        </p:spPr>
        <p:txBody>
          <a:bodyPr wrap="square" lIns="0" tIns="0" rIns="0" bIns="0" rtlCol="0" anchor="ctr"/>
          <a:lstStyle/>
          <a:p>
            <a:pPr indent="0" marL="0">
              <a:buNone/>
            </a:pPr>
            <a:r>
              <a:rPr lang="en-US" sz="3400" b="1" dirty="0">
                <a:solidFill>
                  <a:srgbClr val="111111"/>
                </a:solidFill>
                <a:latin typeface="Calibri" pitchFamily="34" charset="0"/>
                <a:ea typeface="Calibri" pitchFamily="34" charset="-122"/>
                <a:cs typeface="Calibri" pitchFamily="34" charset="-120"/>
              </a:rPr>
              <a:t>B.  What I've found so far, and the plan</a:t>
            </a:r>
            <a:endParaRPr lang="en-US" sz="3400" dirty="0"/>
          </a:p>
        </p:txBody>
      </p:sp>
      <p:sp>
        <p:nvSpPr>
          <p:cNvPr id="3" name="Text 1"/>
          <p:cNvSpPr txBox="1"/>
          <p:nvPr/>
        </p:nvSpPr>
        <p:spPr>
          <a:xfrm>
            <a:off x="640080" y="1463040"/>
            <a:ext cx="5120640"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Already out there</a:t>
            </a:r>
            <a:endParaRPr lang="en-US" sz="1100" dirty="0"/>
          </a:p>
        </p:txBody>
      </p:sp>
      <p:sp>
        <p:nvSpPr>
          <p:cNvPr id="4" name="Text 2"/>
          <p:cNvSpPr txBox="1"/>
          <p:nvPr/>
        </p:nvSpPr>
        <p:spPr>
          <a:xfrm>
            <a:off x="640080" y="1783080"/>
            <a:ext cx="5120640" cy="21031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11111"/>
                </a:solidFill>
                <a:latin typeface="Calibri" pitchFamily="34" charset="0"/>
                <a:ea typeface="Calibri" pitchFamily="34" charset="-122"/>
                <a:cs typeface="Calibri" pitchFamily="34" charset="-120"/>
              </a:rPr>
              <a:t>Windows Recall screenshots everything, got delayed a year over security and is still flagged in 2026</a:t>
            </a:r>
            <a:endParaRPr lang="en-US" sz="1400" dirty="0"/>
          </a:p>
          <a:p>
            <a:pPr marL="342900" indent="-342900">
              <a:spcAft>
                <a:spcPts val="500"/>
              </a:spcAft>
              <a:buSzPct val="100000"/>
              <a:buChar char="•"/>
            </a:pPr>
            <a:r>
              <a:rPr lang="en-US" sz="1400" dirty="0">
                <a:solidFill>
                  <a:srgbClr val="111111"/>
                </a:solidFill>
                <a:latin typeface="Calibri" pitchFamily="34" charset="0"/>
                <a:ea typeface="Calibri" pitchFamily="34" charset="-122"/>
                <a:cs typeface="Calibri" pitchFamily="34" charset="-120"/>
              </a:rPr>
              <a:t>Rewind.ai did the same on Mac, then pivoted to a pendant in 2024</a:t>
            </a:r>
            <a:endParaRPr lang="en-US" sz="1400" dirty="0"/>
          </a:p>
          <a:p>
            <a:pPr marL="342900" indent="-342900">
              <a:spcAft>
                <a:spcPts val="500"/>
              </a:spcAft>
              <a:buSzPct val="100000"/>
              <a:buChar char="•"/>
            </a:pPr>
            <a:r>
              <a:rPr lang="en-US" sz="1400" dirty="0">
                <a:solidFill>
                  <a:srgbClr val="111111"/>
                </a:solidFill>
                <a:latin typeface="Calibri" pitchFamily="34" charset="0"/>
                <a:ea typeface="Calibri" pitchFamily="34" charset="-122"/>
                <a:cs typeface="Calibri" pitchFamily="34" charset="-120"/>
              </a:rPr>
              <a:t>Stage Manager, virtual desktops, tab groups, Workona and Session Buddy only bring the layout back</a:t>
            </a:r>
            <a:endParaRPr lang="en-US" sz="1400" dirty="0"/>
          </a:p>
          <a:p>
            <a:pPr marL="342900" indent="-342900">
              <a:spcAft>
                <a:spcPts val="500"/>
              </a:spcAft>
              <a:buSzPct val="100000"/>
              <a:buChar char="•"/>
            </a:pPr>
            <a:r>
              <a:rPr lang="en-US" sz="1400" dirty="0">
                <a:solidFill>
                  <a:srgbClr val="111111"/>
                </a:solidFill>
                <a:latin typeface="Calibri" pitchFamily="34" charset="0"/>
                <a:ea typeface="Calibri" pitchFamily="34" charset="-122"/>
                <a:cs typeface="Calibri" pitchFamily="34" charset="-120"/>
              </a:rPr>
              <a:t>IDE workspaces bring the files back, and you still have to remember why you had them open</a:t>
            </a:r>
            <a:endParaRPr lang="en-US" sz="1400" dirty="0"/>
          </a:p>
        </p:txBody>
      </p:sp>
      <p:sp>
        <p:nvSpPr>
          <p:cNvPr id="5" name="Text 3"/>
          <p:cNvSpPr txBox="1"/>
          <p:nvPr/>
        </p:nvSpPr>
        <p:spPr>
          <a:xfrm>
            <a:off x="640080" y="3977640"/>
            <a:ext cx="5120640"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Biggest unknowns</a:t>
            </a:r>
            <a:endParaRPr lang="en-US" sz="1100" dirty="0"/>
          </a:p>
        </p:txBody>
      </p:sp>
      <p:sp>
        <p:nvSpPr>
          <p:cNvPr id="6" name="Text 4"/>
          <p:cNvSpPr txBox="1"/>
          <p:nvPr/>
        </p:nvSpPr>
        <p:spPr>
          <a:xfrm>
            <a:off x="640080" y="4297680"/>
            <a:ext cx="512064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11111"/>
                </a:solidFill>
                <a:latin typeface="Calibri" pitchFamily="34" charset="0"/>
                <a:ea typeface="Calibri" pitchFamily="34" charset="-122"/>
                <a:cs typeface="Calibri" pitchFamily="34" charset="-120"/>
              </a:rPr>
              <a:t>How much of getting back is finding your stuff vs rebuilding the mental model</a:t>
            </a:r>
            <a:endParaRPr lang="en-US" sz="1400" dirty="0"/>
          </a:p>
          <a:p>
            <a:pPr marL="342900" indent="-342900">
              <a:spcAft>
                <a:spcPts val="500"/>
              </a:spcAft>
              <a:buSzPct val="100000"/>
              <a:buChar char="•"/>
            </a:pPr>
            <a:r>
              <a:rPr lang="en-US" sz="1400" dirty="0">
                <a:solidFill>
                  <a:srgbClr val="111111"/>
                </a:solidFill>
                <a:latin typeface="Calibri" pitchFamily="34" charset="0"/>
                <a:ea typeface="Calibri" pitchFamily="34" charset="-122"/>
                <a:cs typeface="Calibri" pitchFamily="34" charset="-120"/>
              </a:rPr>
              <a:t>Which signals are enough (titles, URLs, clipboard, chat thread) and where the line between useful and creepy is</a:t>
            </a:r>
            <a:endParaRPr lang="en-US" sz="1400" dirty="0"/>
          </a:p>
          <a:p>
            <a:pPr marL="342900" indent="-342900">
              <a:spcAft>
                <a:spcPts val="500"/>
              </a:spcAft>
              <a:buSzPct val="100000"/>
              <a:buChar char="•"/>
            </a:pPr>
            <a:r>
              <a:rPr lang="en-US" sz="1400" dirty="0">
                <a:solidFill>
                  <a:srgbClr val="111111"/>
                </a:solidFill>
                <a:latin typeface="Calibri" pitchFamily="34" charset="0"/>
                <a:ea typeface="Calibri" pitchFamily="34" charset="-122"/>
                <a:cs typeface="Calibri" pitchFamily="34" charset="-120"/>
              </a:rPr>
              <a:t>Whether session managers fail because they can't do it or because nobody adopts them</a:t>
            </a:r>
            <a:endParaRPr lang="en-US" sz="1400" dirty="0"/>
          </a:p>
        </p:txBody>
      </p:sp>
      <p:sp>
        <p:nvSpPr>
          <p:cNvPr id="7" name="Text 5"/>
          <p:cNvSpPr txBox="1"/>
          <p:nvPr/>
        </p:nvSpPr>
        <p:spPr>
          <a:xfrm>
            <a:off x="6309360" y="1463040"/>
            <a:ext cx="5242255"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Plan to Oct 19 (public sources only)</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09360" y="1783080"/>
          <a:ext cx="5242255" cy="914400"/>
        </p:xfrm>
        <a:graphic>
          <a:graphicData uri="http://schemas.openxmlformats.org/drawingml/2006/table">
            <a:tbl>
              <a:tblPr/>
              <a:tblGrid>
                <a:gridCol w="3322015"/>
                <a:gridCol w="1371600"/>
                <a:gridCol w="548640"/>
              </a:tblGrid>
              <a:tr h="274320">
                <a:tc>
                  <a:txBody>
                    <a:bodyPr/>
                    <a:lstStyle/>
                    <a:p>
                      <a:pPr indent="0" marL="0">
                        <a:buNone/>
                      </a:pPr>
                      <a:r>
                        <a:rPr lang="en-US" sz="1000" b="1" dirty="0">
                          <a:solidFill>
                            <a:srgbClr val="6B6B6B"/>
                          </a:solidFill>
                          <a:latin typeface="Calibri" pitchFamily="34" charset="0"/>
                          <a:ea typeface="Calibri" pitchFamily="34" charset="-122"/>
                          <a:cs typeface="Calibri" pitchFamily="34" charset="-120"/>
                        </a:rPr>
                        <a:t>Task</a:t>
                      </a:r>
                      <a:endParaRPr lang="en-US" sz="100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00" b="1" dirty="0">
                          <a:solidFill>
                            <a:srgbClr val="6B6B6B"/>
                          </a:solidFill>
                          <a:latin typeface="Calibri" pitchFamily="34" charset="0"/>
                          <a:ea typeface="Calibri" pitchFamily="34" charset="-122"/>
                          <a:cs typeface="Calibri" pitchFamily="34" charset="-120"/>
                        </a:rPr>
                        <a:t>When</a:t>
                      </a:r>
                      <a:endParaRPr lang="en-US" sz="100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00" b="1" dirty="0">
                          <a:solidFill>
                            <a:srgbClr val="6B6B6B"/>
                          </a:solidFill>
                          <a:latin typeface="Calibri" pitchFamily="34" charset="0"/>
                          <a:ea typeface="Calibri" pitchFamily="34" charset="-122"/>
                          <a:cs typeface="Calibri" pitchFamily="34" charset="-120"/>
                        </a:rPr>
                        <a:t>Hours</a:t>
                      </a:r>
                      <a:endParaRPr lang="en-US" sz="100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Literature review, Scopus, 10 to 12 papers</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Sep 24 to 30</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50" dirty="0">
                          <a:solidFill>
                            <a:srgbClr val="111111"/>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Benchmark 8 to 10 restore tools incl. Recall, Rewind, Arc</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Sep 30 to Oct 4</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50" dirty="0">
                          <a:solidFill>
                            <a:srgbClr val="111111"/>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Code the Recall backlash by objection type</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Oct 4 to 7</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50" dirty="0">
                          <a:solidFill>
                            <a:srgbClr val="111111"/>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Platform capability audit (Windows, macOS, browsers)</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Oct 7 to 10</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50" dirty="0">
                          <a:solidFill>
                            <a:srgbClr val="111111"/>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Tag 60 to 80 Reddit and Hacker News posts</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Oct 10 to 13</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50" dirty="0">
                          <a:solidFill>
                            <a:srgbClr val="111111"/>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Synthesis: journey map, stakeholder map, gap list</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Oct 13 to 16</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50" dirty="0">
                          <a:solidFill>
                            <a:srgbClr val="111111"/>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Milestone 3 write-up</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111111"/>
                          </a:solidFill>
                          <a:latin typeface="Calibri" pitchFamily="34" charset="0"/>
                          <a:ea typeface="Calibri" pitchFamily="34" charset="-122"/>
                          <a:cs typeface="Calibri" pitchFamily="34" charset="-120"/>
                        </a:rPr>
                        <a:t>Oct 16 to 18</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150" dirty="0">
                          <a:solidFill>
                            <a:srgbClr val="111111"/>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0" marR="45720" marT="18288" marB="18288">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9" name="Text 6"/>
          <p:cNvSpPr txBox="1"/>
          <p:nvPr/>
        </p:nvSpPr>
        <p:spPr>
          <a:xfrm>
            <a:off x="6309360" y="4297680"/>
            <a:ext cx="5242255" cy="274320"/>
          </a:xfrm>
          <a:prstGeom prst="rect">
            <a:avLst/>
          </a:prstGeom>
          <a:noFill/>
          <a:ln/>
        </p:spPr>
        <p:txBody>
          <a:bodyPr wrap="square" lIns="0" tIns="0" rIns="0" bIns="0" rtlCol="0" anchor="ctr"/>
          <a:lstStyle/>
          <a:p>
            <a:pPr indent="0" marL="0">
              <a:buNone/>
            </a:pPr>
            <a:r>
              <a:rPr lang="en-US" sz="1100" b="1" dirty="0">
                <a:solidFill>
                  <a:srgbClr val="6B6B6B"/>
                </a:solidFill>
                <a:latin typeface="Calibri" pitchFamily="34" charset="0"/>
                <a:ea typeface="Calibri" pitchFamily="34" charset="-122"/>
                <a:cs typeface="Calibri" pitchFamily="34" charset="-120"/>
              </a:rPr>
              <a:t>Questions for you</a:t>
            </a:r>
            <a:endParaRPr lang="en-US" sz="1100" dirty="0"/>
          </a:p>
        </p:txBody>
      </p:sp>
      <p:sp>
        <p:nvSpPr>
          <p:cNvPr id="10" name="Text 7"/>
          <p:cNvSpPr txBox="1"/>
          <p:nvPr/>
        </p:nvSpPr>
        <p:spPr>
          <a:xfrm>
            <a:off x="6309360" y="4590288"/>
            <a:ext cx="5242255" cy="13716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500" b="1" dirty="0">
                <a:solidFill>
                  <a:srgbClr val="9B2D20"/>
                </a:solidFill>
                <a:latin typeface="Calibri" pitchFamily="34" charset="0"/>
                <a:ea typeface="Calibri" pitchFamily="34" charset="-122"/>
                <a:cs typeface="Calibri" pitchFamily="34" charset="-120"/>
              </a:rPr>
              <a:t>Where's the line between a helpful memory and surveillance?</a:t>
            </a:r>
            <a:endParaRPr lang="en-US" sz="1500" dirty="0"/>
          </a:p>
          <a:p>
            <a:pPr marL="342900" indent="-342900">
              <a:spcAft>
                <a:spcPts val="500"/>
              </a:spcAft>
              <a:buSzPct val="100000"/>
              <a:buFont typeface="+mj-lt"/>
              <a:buAutoNum type="arabicPeriod" startAt="1"/>
            </a:pPr>
            <a:r>
              <a:rPr lang="en-US" sz="1500" b="1" dirty="0">
                <a:solidFill>
                  <a:srgbClr val="9B2D20"/>
                </a:solidFill>
                <a:latin typeface="Calibri" pitchFamily="34" charset="0"/>
                <a:ea typeface="Calibri" pitchFamily="34" charset="-122"/>
                <a:cs typeface="Calibri" pitchFamily="34" charset="-120"/>
              </a:rPr>
              <a:t>Is this a capability gap or an adoption gap?</a:t>
            </a:r>
            <a:endParaRPr lang="en-US" sz="1500" dirty="0"/>
          </a:p>
          <a:p>
            <a:pPr marL="342900" indent="-342900">
              <a:spcAft>
                <a:spcPts val="500"/>
              </a:spcAft>
              <a:buSzPct val="100000"/>
              <a:buFont typeface="+mj-lt"/>
              <a:buAutoNum type="arabicPeriod" startAt="1"/>
            </a:pPr>
            <a:r>
              <a:rPr lang="en-US" sz="1500" b="1" dirty="0">
                <a:solidFill>
                  <a:srgbClr val="9B2D20"/>
                </a:solidFill>
                <a:latin typeface="Calibri" pitchFamily="34" charset="0"/>
                <a:ea typeface="Calibri" pitchFamily="34" charset="-122"/>
                <a:cs typeface="Calibri" pitchFamily="34" charset="-120"/>
              </a:rPr>
              <a:t>Should this merge with the notifications one or stay separate?</a:t>
            </a:r>
            <a:endParaRPr lang="en-US" sz="1500" dirty="0"/>
          </a:p>
        </p:txBody>
      </p:sp>
      <p:sp>
        <p:nvSpPr>
          <p:cNvPr id="11" name="Text 8"/>
          <p:cNvSpPr txBox="1"/>
          <p:nvPr/>
        </p:nvSpPr>
        <p:spPr>
          <a:xfrm>
            <a:off x="640080" y="640080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Nathan Lu · MSE 302 IP.M1 · github.com/NathanL15/mse302-individual-project</a:t>
            </a:r>
            <a:endParaRPr lang="en-US" sz="900" dirty="0"/>
          </a:p>
        </p:txBody>
      </p:sp>
      <p:sp>
        <p:nvSpPr>
          <p:cNvPr id="12" name="Text 9"/>
          <p:cNvSpPr txBox="1"/>
          <p:nvPr/>
        </p:nvSpPr>
        <p:spPr>
          <a:xfrm>
            <a:off x="11094415" y="640080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MSE 302 IP.M1 – Nathan Lu</dc:title>
  <dc:subject>PptxGenJS Presentation</dc:subject>
  <dc:creator>Nathan Lu</dc:creator>
  <cp:lastModifiedBy>Nathan Lu</cp:lastModifiedBy>
  <cp:revision>1</cp:revision>
  <dcterms:created xsi:type="dcterms:W3CDTF">2026-09-23T01:28:51Z</dcterms:created>
  <dcterms:modified xsi:type="dcterms:W3CDTF">2026-09-23T01:28:51Z</dcterms:modified>
</cp:coreProperties>
</file>